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4"/>
    <p:restoredTop sz="94679"/>
  </p:normalViewPr>
  <p:slideViewPr>
    <p:cSldViewPr snapToGrid="0">
      <p:cViewPr varScale="1">
        <p:scale>
          <a:sx n="88" d="100"/>
          <a:sy n="88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05C57-C0F3-4941-A9FC-CAD6177E3BBA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4E2B6-9A77-8845-B84E-A1DA1BFBC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9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Marginal distribution to check the probability of our model generating images from all classes </a:t>
            </a:r>
          </a:p>
          <a:p>
            <a:r>
              <a:rPr lang="en-US" dirty="0"/>
              <a:t>Ans the label distribution is how likely a generated image is classified correctly to one class label specifically.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4E2B6-9A77-8845-B84E-A1DA1BFBC7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81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4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3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5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09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3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7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1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0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3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9/23/25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39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0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10" r:id="rId8"/>
    <p:sldLayoutId id="2147483707" r:id="rId9"/>
    <p:sldLayoutId id="2147483708" r:id="rId10"/>
    <p:sldLayoutId id="21474837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B68D3-B7BC-C46A-816A-568C9E967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Generative Model Evaluation Metrics</a:t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4DE35-D2ED-0049-E674-7770C1890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/>
            <a:endParaRPr lang="en-US" sz="2200">
              <a:solidFill>
                <a:schemeClr val="tx2"/>
              </a:solidFill>
            </a:endParaRPr>
          </a:p>
        </p:txBody>
      </p:sp>
      <p:pic>
        <p:nvPicPr>
          <p:cNvPr id="4" name="Picture 3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50AE8E1D-C3A7-6079-71D8-86EAFE5E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54" r="31182"/>
          <a:stretch/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502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4F9-91C1-B451-54D8-FCF1C3A8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u="none" strike="noStrike" dirty="0">
                <a:effectLst/>
              </a:rPr>
              <a:t>Understanding Generative Model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4F81B-250F-2E81-5458-4D249C52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Objective</a:t>
            </a:r>
            <a:r>
              <a:rPr lang="en-US" b="0" i="0" u="none" strike="noStrike" dirty="0">
                <a:effectLst/>
              </a:rPr>
              <a:t>: Evaluate how well a generative model performs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Metrics Covered</a:t>
            </a:r>
            <a:r>
              <a:rPr lang="en-US" b="0" i="0" u="none" strike="noStrike" dirty="0"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Inception Score (IS)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effectLst/>
              </a:rPr>
              <a:t>Frechet</a:t>
            </a:r>
            <a:r>
              <a:rPr lang="en-US" b="0" i="0" u="none" strike="noStrike" dirty="0">
                <a:effectLst/>
              </a:rPr>
              <a:t> Inception Distance (FID)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Learned Perceptual Image Similarity (LPIPS)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4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71BA-E9FF-77CC-79D8-687CBF2E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effectLst/>
              </a:rPr>
              <a:t>Evaluating a Generative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2F70-782F-AE3B-C4E8-DBD7D9DEC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effectLst/>
              </a:rPr>
              <a:t>Key Goals: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effectLst/>
              </a:rPr>
              <a:t>Realism</a:t>
            </a:r>
            <a:r>
              <a:rPr lang="en-US" b="0" i="0" u="none" strike="noStrike" dirty="0">
                <a:effectLst/>
              </a:rPr>
              <a:t>: Do the generated images look real?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effectLst/>
              </a:rPr>
              <a:t>Diversity</a:t>
            </a:r>
            <a:r>
              <a:rPr lang="en-US" b="0" i="0" u="none" strike="noStrike" dirty="0">
                <a:effectLst/>
              </a:rPr>
              <a:t>: Are the outputs varied?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effectLst/>
              </a:rPr>
              <a:t>Similarity</a:t>
            </a:r>
            <a:r>
              <a:rPr lang="en-US" b="0" i="0" u="none" strike="noStrike" dirty="0">
                <a:effectLst/>
              </a:rPr>
              <a:t>: How close are the generated images to real ones?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5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CBEC9D-9F9B-4383-B986-DE5B184A9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44401"/>
          <a:stretch/>
        </p:blipFill>
        <p:spPr>
          <a:xfrm>
            <a:off x="-3048" y="-1"/>
            <a:ext cx="1146048" cy="107090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BCB002A-D84B-F7CB-2011-81045830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339"/>
            <a:ext cx="4648200" cy="15387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 u="none" strike="noStrike" dirty="0">
                <a:solidFill>
                  <a:schemeClr val="tx2"/>
                </a:solidFill>
                <a:effectLst/>
              </a:rPr>
              <a:t>Inception Score (IS)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A7EF12-A474-2FC1-09A0-24256123E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14" y="1853741"/>
            <a:ext cx="5344587" cy="4677688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What is IS?</a:t>
            </a:r>
          </a:p>
          <a:p>
            <a:pPr>
              <a:lnSpc>
                <a:spcPct val="100000"/>
              </a:lnSpc>
            </a:pP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Measures </a:t>
            </a: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Image quality</a:t>
            </a: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 and </a:t>
            </a: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diversity</a:t>
            </a: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 of generated images.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</a:rPr>
              <a:t>Image Quality (Object Recognizability)</a:t>
            </a:r>
            <a:r>
              <a:rPr lang="en-US" sz="1400" dirty="0">
                <a:solidFill>
                  <a:schemeClr val="tx1"/>
                </a:solidFill>
              </a:rPr>
              <a:t>: High-quality images should contain recognizable objects, which translates to a confident (low-entropy) probability distribution over class labels when evaluated by a pre-trained classifier.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</a:rPr>
              <a:t>Diversity of Generated Images</a:t>
            </a:r>
            <a:r>
              <a:rPr lang="en-US" sz="1400" dirty="0">
                <a:solidFill>
                  <a:schemeClr val="tx1"/>
                </a:solidFill>
              </a:rPr>
              <a:t>: The generated images should cover a wide range of classes or concepts, reflected by a high-entropy distribution over the labels when aggregated across many samples.</a:t>
            </a:r>
            <a:endParaRPr lang="en-US" sz="1400" b="0" i="0" u="none" strike="noStrike" dirty="0"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en-US" sz="1400" b="1" i="0" u="none" strike="noStrike" dirty="0">
                <a:solidFill>
                  <a:schemeClr val="tx1"/>
                </a:solidFill>
                <a:effectLst/>
              </a:rPr>
              <a:t>How it Works:</a:t>
            </a:r>
          </a:p>
          <a:p>
            <a:pPr>
              <a:lnSpc>
                <a:spcPct val="100000"/>
              </a:lnSpc>
            </a:pP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Uses a pre-trained </a:t>
            </a: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Inception network</a:t>
            </a: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 to classify images.</a:t>
            </a:r>
          </a:p>
          <a:p>
            <a:pPr>
              <a:lnSpc>
                <a:spcPct val="100000"/>
              </a:lnSpc>
            </a:pP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Considers:</a:t>
            </a:r>
          </a:p>
          <a:p>
            <a:pPr marL="742950" lvl="1">
              <a:lnSpc>
                <a:spcPct val="100000"/>
              </a:lnSpc>
            </a:pP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Diversity</a:t>
            </a: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: Spread across many classes.</a:t>
            </a:r>
          </a:p>
          <a:p>
            <a:pPr marL="742950" lvl="1">
              <a:lnSpc>
                <a:spcPct val="100000"/>
              </a:lnSpc>
            </a:pP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Realism</a:t>
            </a:r>
            <a:r>
              <a:rPr lang="en-US" sz="1400" b="0" i="0" u="none" strike="noStrike" dirty="0">
                <a:solidFill>
                  <a:schemeClr val="tx2"/>
                </a:solidFill>
                <a:effectLst/>
              </a:rPr>
              <a:t>: Clear and confident classifications.</a:t>
            </a:r>
          </a:p>
          <a:p>
            <a:pPr>
              <a:lnSpc>
                <a:spcPct val="100000"/>
              </a:lnSpc>
            </a:pP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Key Point:</a:t>
            </a:r>
          </a:p>
          <a:p>
            <a:pPr>
              <a:lnSpc>
                <a:spcPct val="100000"/>
              </a:lnSpc>
            </a:pPr>
            <a:r>
              <a:rPr lang="en-US" sz="1400" b="1" i="0" u="none" strike="noStrike" dirty="0">
                <a:solidFill>
                  <a:schemeClr val="tx2"/>
                </a:solidFill>
                <a:effectLst/>
              </a:rPr>
              <a:t>Higher IS = Better quality and diversity</a:t>
            </a:r>
          </a:p>
        </p:txBody>
      </p:sp>
      <p:pic>
        <p:nvPicPr>
          <p:cNvPr id="7" name="Content Placeholder 6" descr="A chart showing a dog and an elephant&#10;&#10;Description automatically generated">
            <a:extLst>
              <a:ext uri="{FF2B5EF4-FFF2-40B4-BE49-F238E27FC236}">
                <a16:creationId xmlns:a16="http://schemas.microsoft.com/office/drawing/2014/main" id="{7E510F95-A82A-4BFB-5AF8-6FD8F4395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l="1635" t="1746" r="1348" b="1630"/>
          <a:stretch/>
        </p:blipFill>
        <p:spPr>
          <a:xfrm>
            <a:off x="5678557" y="1718033"/>
            <a:ext cx="6513443" cy="44675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E52FC7-B3EF-46A4-B8CE-292164EC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8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D6F48B-8E22-95BC-6BB8-D91190458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5638800" cy="15737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C11D-6B0F-4814-042A-2DA4FE322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93561" y="605510"/>
            <a:ext cx="4633486" cy="1800806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solidFill>
                  <a:schemeClr val="tx2"/>
                </a:solidFill>
                <a:effectLst/>
              </a:rPr>
              <a:t>We compare each samples classes with averaged (marginal) one. If each sample's distribution differs from common (marginal) one, then it differs from others.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</a:rPr>
              <a:t>Here KL divergence is used to calculate the distance</a:t>
            </a:r>
          </a:p>
          <a:p>
            <a:pPr>
              <a:lnSpc>
                <a:spcPct val="100000"/>
              </a:lnSpc>
            </a:pPr>
            <a:endParaRPr lang="en-US" sz="1800" b="0" dirty="0">
              <a:solidFill>
                <a:schemeClr val="tx2"/>
              </a:solidFill>
              <a:effectLst/>
            </a:endParaRPr>
          </a:p>
          <a:p>
            <a:pPr>
              <a:lnSpc>
                <a:spcPct val="100000"/>
              </a:lnSpc>
            </a:pP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 descr="A graph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1885A55A-53A3-2207-86EE-CCF946B5A0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838200" y="2676213"/>
            <a:ext cx="10515600" cy="3338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1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8798-94C2-79C3-528D-27A88C38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 err="1">
                <a:effectLst/>
              </a:rPr>
              <a:t>Frechet</a:t>
            </a:r>
            <a:r>
              <a:rPr lang="en-US" b="1" i="0" u="none" strike="noStrike" dirty="0">
                <a:effectLst/>
              </a:rPr>
              <a:t> Inception Distance (FID)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82D3E-41C3-74AE-759D-55DAB54E5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191000" cy="435133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1600" b="1" i="0" u="none" strike="noStrike" dirty="0">
                <a:effectLst/>
              </a:rPr>
              <a:t>What is FID?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Measures similarity between generated and real images.</a:t>
            </a:r>
          </a:p>
          <a:p>
            <a:pPr algn="l"/>
            <a:r>
              <a:rPr lang="en-US" sz="1600" b="1" i="0" u="none" strike="noStrike" dirty="0">
                <a:effectLst/>
              </a:rPr>
              <a:t>How it Works:</a:t>
            </a:r>
          </a:p>
          <a:p>
            <a:pPr algn="l">
              <a:buFont typeface="+mj-lt"/>
              <a:buAutoNum type="arabicPeriod"/>
            </a:pPr>
            <a:r>
              <a:rPr lang="en-US" sz="1600" b="0" i="0" u="none" strike="noStrike" dirty="0">
                <a:effectLst/>
              </a:rPr>
              <a:t>Extracts deep features using a pre-trained </a:t>
            </a:r>
            <a:r>
              <a:rPr lang="en-US" sz="1600" b="1" i="0" u="none" strike="noStrike" dirty="0">
                <a:effectLst/>
              </a:rPr>
              <a:t>Inception network</a:t>
            </a:r>
            <a:r>
              <a:rPr lang="en-US" sz="1600" b="0" i="0" u="none" strike="noStrike" dirty="0"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600" b="0" i="0" u="none" strike="noStrike" dirty="0">
                <a:effectLst/>
              </a:rPr>
              <a:t>Compares the distributions of real and generated image features: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u="none" strike="noStrike" dirty="0">
                <a:effectLst/>
              </a:rPr>
              <a:t>Mean</a:t>
            </a:r>
            <a:r>
              <a:rPr lang="en-US" sz="1400" b="0" i="0" u="none" strike="noStrike" dirty="0">
                <a:effectLst/>
              </a:rPr>
              <a:t> (average feature values).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u="none" strike="noStrike" dirty="0">
                <a:effectLst/>
              </a:rPr>
              <a:t>Spread</a:t>
            </a:r>
            <a:r>
              <a:rPr lang="en-US" sz="1400" b="0" i="0" u="none" strike="noStrike" dirty="0">
                <a:effectLst/>
              </a:rPr>
              <a:t> (variance).</a:t>
            </a:r>
          </a:p>
          <a:p>
            <a:pPr algn="l"/>
            <a:r>
              <a:rPr lang="en-US" sz="1600" b="1" i="0" u="none" strike="noStrike" dirty="0">
                <a:effectLst/>
              </a:rPr>
              <a:t>Key Point: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effectLst/>
              </a:rPr>
              <a:t>Lower FID = Better similarity to real images</a:t>
            </a:r>
            <a:endParaRPr lang="en-US" sz="1600" b="0" i="0" u="none" strike="noStrike" dirty="0">
              <a:effectLst/>
            </a:endParaRPr>
          </a:p>
          <a:p>
            <a:pPr algn="l"/>
            <a:r>
              <a:rPr lang="en-US" sz="1600" b="1" i="0" u="none" strike="noStrike" dirty="0">
                <a:effectLst/>
              </a:rPr>
              <a:t>Advantage Over IS: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Compares generated images to real ones.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68C038-BEC7-2408-3F88-341FAD8E98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29200" y="2165685"/>
            <a:ext cx="6930189" cy="401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0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82EE4-67A6-5B9D-68FF-0CC4C07D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381000"/>
            <a:ext cx="9988166" cy="24049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fontAlgn="base"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IS vs. FID</a:t>
            </a:r>
          </a:p>
          <a:p>
            <a:pPr marL="0" marR="0" lvl="0" indent="0" algn="ctr" fontAlgn="base"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D571255D-8E12-146E-08CC-DD1CA8F9F7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4056926"/>
              </p:ext>
            </p:extLst>
          </p:nvPr>
        </p:nvGraphicFramePr>
        <p:xfrm>
          <a:off x="986685" y="2785942"/>
          <a:ext cx="10199661" cy="3953153"/>
        </p:xfrm>
        <a:graphic>
          <a:graphicData uri="http://schemas.openxmlformats.org/drawingml/2006/table">
            <a:tbl>
              <a:tblPr/>
              <a:tblGrid>
                <a:gridCol w="2009771">
                  <a:extLst>
                    <a:ext uri="{9D8B030D-6E8A-4147-A177-3AD203B41FA5}">
                      <a16:colId xmlns:a16="http://schemas.microsoft.com/office/drawing/2014/main" val="1209931"/>
                    </a:ext>
                  </a:extLst>
                </a:gridCol>
                <a:gridCol w="3783969">
                  <a:extLst>
                    <a:ext uri="{9D8B030D-6E8A-4147-A177-3AD203B41FA5}">
                      <a16:colId xmlns:a16="http://schemas.microsoft.com/office/drawing/2014/main" val="1547428233"/>
                    </a:ext>
                  </a:extLst>
                </a:gridCol>
                <a:gridCol w="4405921">
                  <a:extLst>
                    <a:ext uri="{9D8B030D-6E8A-4147-A177-3AD203B41FA5}">
                      <a16:colId xmlns:a16="http://schemas.microsoft.com/office/drawing/2014/main" val="876513240"/>
                    </a:ext>
                  </a:extLst>
                </a:gridCol>
              </a:tblGrid>
              <a:tr h="480783">
                <a:tc>
                  <a:txBody>
                    <a:bodyPr/>
                    <a:lstStyle/>
                    <a:p>
                      <a:r>
                        <a:rPr lang="en-US" sz="2000"/>
                        <a:t>Feature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Inception Score (IS)</a:t>
                      </a:r>
                      <a:endParaRPr lang="en-US" sz="2000"/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Frechet Inception Distance (FID)</a:t>
                      </a:r>
                      <a:endParaRPr lang="en-US" sz="2000"/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055254"/>
                  </a:ext>
                </a:extLst>
              </a:tr>
              <a:tr h="793861">
                <a:tc>
                  <a:txBody>
                    <a:bodyPr/>
                    <a:lstStyle/>
                    <a:p>
                      <a:r>
                        <a:rPr lang="en-US" sz="2000" b="1" dirty="0"/>
                        <a:t>Aim</a:t>
                      </a:r>
                      <a:endParaRPr lang="en-US" sz="2000" dirty="0"/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Realism &amp; diversity of generated images.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Similarity between generated and real images.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992753"/>
                  </a:ext>
                </a:extLst>
              </a:tr>
              <a:tr h="793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distributions are compared?</a:t>
                      </a:r>
                    </a:p>
                    <a:p>
                      <a:endParaRPr lang="en-US" sz="2000" dirty="0"/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uses generated images.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 predicted class distributions (marginal vs. sample's one).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Compares generated images to real images.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Two continuous gaussian distributions (real vs. generated one)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87831"/>
                  </a:ext>
                </a:extLst>
              </a:tr>
              <a:tr h="4807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data is used? 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Generated only.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Generated and real</a:t>
                      </a:r>
                      <a:r>
                        <a:rPr lang="en-US" sz="2000" dirty="0"/>
                        <a:t>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523458"/>
                  </a:ext>
                </a:extLst>
              </a:tr>
              <a:tr h="793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distance is used? 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</a:t>
                      </a:r>
                      <a:r>
                        <a:rPr lang="en-US" sz="2000" dirty="0"/>
                        <a:t>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Frechet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distance</a:t>
                      </a:r>
                      <a:r>
                        <a:rPr lang="en-US" sz="2000" dirty="0"/>
                        <a:t>.</a:t>
                      </a:r>
                    </a:p>
                  </a:txBody>
                  <a:tcPr marL="88882" marR="88882" marT="44442" marB="444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67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934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0267-D871-31F9-1B53-05716E2D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u="none" strike="noStrike" dirty="0">
                <a:effectLst/>
              </a:rPr>
              <a:t>Learned Perceptual Image Similarity (LPIPS)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F3952-0CB6-0020-2797-D03B9D1B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b="1" i="0" u="none" strike="noStrike" dirty="0">
                <a:effectLst/>
              </a:rPr>
              <a:t>What is LPIPS?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Measures </a:t>
            </a:r>
            <a:r>
              <a:rPr lang="en-US" b="1" i="0" u="none" strike="noStrike" dirty="0">
                <a:effectLst/>
              </a:rPr>
              <a:t>perceptual similarity</a:t>
            </a:r>
            <a:r>
              <a:rPr lang="en-US" b="0" i="0" u="none" strike="noStrike" dirty="0">
                <a:effectLst/>
              </a:rPr>
              <a:t> between two images.</a:t>
            </a:r>
          </a:p>
          <a:p>
            <a:pPr algn="l"/>
            <a:r>
              <a:rPr lang="en-US" b="1" i="0" u="none" strike="noStrike" dirty="0">
                <a:effectLst/>
              </a:rPr>
              <a:t>How it Works: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</a:rPr>
              <a:t>Uses a pre-trained deep network to extract features.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</a:rPr>
              <a:t>Compares </a:t>
            </a:r>
            <a:r>
              <a:rPr lang="en-US" b="1" i="0" u="none" strike="noStrike" dirty="0">
                <a:effectLst/>
              </a:rPr>
              <a:t>high-level features</a:t>
            </a:r>
            <a:r>
              <a:rPr lang="en-US" b="0" i="0" u="none" strike="noStrike" dirty="0">
                <a:effectLst/>
              </a:rPr>
              <a:t> (not pixel values).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</a:rPr>
              <a:t>Evaluates how different two images look visually.</a:t>
            </a:r>
          </a:p>
          <a:p>
            <a:pPr algn="l"/>
            <a:r>
              <a:rPr lang="en-US" b="1" i="0" u="none" strike="noStrike" dirty="0">
                <a:effectLst/>
              </a:rPr>
              <a:t>Key Point: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Lower LPIPS = More perceptually similar images</a:t>
            </a:r>
            <a:endParaRPr lang="en-US" b="0" i="0" u="none" strike="noStrike" dirty="0">
              <a:effectLst/>
            </a:endParaRPr>
          </a:p>
          <a:p>
            <a:pPr algn="l"/>
            <a:r>
              <a:rPr lang="en-US" b="1" i="0" u="none" strike="noStrike" dirty="0">
                <a:effectLst/>
              </a:rPr>
              <a:t>Why it’s Useful: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Aligns better with human perception.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Ignores small, imperceptible pixel differences.</a:t>
            </a:r>
          </a:p>
        </p:txBody>
      </p:sp>
    </p:spTree>
    <p:extLst>
      <p:ext uri="{BB962C8B-B14F-4D97-AF65-F5344CB8AC3E}">
        <p14:creationId xmlns:p14="http://schemas.microsoft.com/office/powerpoint/2010/main" val="1867863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4C21-5DA2-6137-823D-417B4CC5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-webkit-standard"/>
              </a:rPr>
              <a:t>Key Differences Between LPIPS and FID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ED10B-7AAE-0840-5F85-BE6C728A1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LPIPS</a:t>
            </a:r>
            <a:r>
              <a:rPr lang="en-US" dirty="0"/>
              <a:t>: Focuses on perceptual similarity between two images. It's ideal for tasks where you want generated images to look similar to a specific reference image.</a:t>
            </a:r>
          </a:p>
          <a:p>
            <a:r>
              <a:rPr lang="en-US" b="1" dirty="0"/>
              <a:t>FID</a:t>
            </a:r>
            <a:r>
              <a:rPr lang="en-US" dirty="0"/>
              <a:t>: Focuses on comparing the overall quality and diversity of generated images against the real dataset. It evaluates how well a generative model replicates the data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83109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302C-6FAF-956E-1CD0-11CC34AF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effectLst/>
              </a:rPr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EF60-40AE-49E5-C5A8-37F640E6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1" i="0" u="none" strike="noStrike" dirty="0">
                <a:effectLst/>
              </a:rPr>
              <a:t>Key Metrics: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effectLst/>
              </a:rPr>
              <a:t>Inception Score (IS):</a:t>
            </a:r>
            <a:r>
              <a:rPr lang="en-US" b="0" i="0" u="none" strike="noStrike" dirty="0">
                <a:effectLst/>
              </a:rPr>
              <a:t> Measures realism and diversity.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 err="1">
                <a:effectLst/>
              </a:rPr>
              <a:t>Frechet</a:t>
            </a:r>
            <a:r>
              <a:rPr lang="en-US" b="1" i="0" u="none" strike="noStrike" dirty="0">
                <a:effectLst/>
              </a:rPr>
              <a:t> Inception Distance (FID):</a:t>
            </a:r>
            <a:r>
              <a:rPr lang="en-US" b="0" i="0" u="none" strike="noStrike" dirty="0">
                <a:effectLst/>
              </a:rPr>
              <a:t> Measures similarity to real images.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effectLst/>
              </a:rPr>
              <a:t>LPIPS:</a:t>
            </a:r>
            <a:r>
              <a:rPr lang="en-US" b="0" i="0" u="none" strike="noStrike" dirty="0">
                <a:effectLst/>
              </a:rPr>
              <a:t> Measures perceptual similarity between two images.</a:t>
            </a:r>
          </a:p>
          <a:p>
            <a:pPr algn="l"/>
            <a:r>
              <a:rPr lang="en-US" b="1" i="0" u="none" strike="noStrike" dirty="0">
                <a:effectLst/>
              </a:rPr>
              <a:t>Takeaways: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Use multiple metrics for a comprehensive evaluation.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Each metric provides unique insights into the model’s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3473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426</TotalTime>
  <Words>630</Words>
  <Application>Microsoft Macintosh PowerPoint</Application>
  <PresentationFormat>Widescreen</PresentationFormat>
  <Paragraphs>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-webkit-standard</vt:lpstr>
      <vt:lpstr>Aptos</vt:lpstr>
      <vt:lpstr>Arial</vt:lpstr>
      <vt:lpstr>Avenir Next LT Pro</vt:lpstr>
      <vt:lpstr>AvenirNext LT Pro Medium</vt:lpstr>
      <vt:lpstr>BlockprintVTI</vt:lpstr>
      <vt:lpstr>Generative Model Evaluation Metrics </vt:lpstr>
      <vt:lpstr>Understanding Generative Model Metrics</vt:lpstr>
      <vt:lpstr>Evaluating a Generative Model</vt:lpstr>
      <vt:lpstr>Inception Score (IS)</vt:lpstr>
      <vt:lpstr>How it works</vt:lpstr>
      <vt:lpstr>Frechet Inception Distance (FID)</vt:lpstr>
      <vt:lpstr>IS vs. FID </vt:lpstr>
      <vt:lpstr>Learned Perceptual Image Similarity (LPIPS)</vt:lpstr>
      <vt:lpstr>Key Differences Between LPIPS and FID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Ибрахим Анвар</dc:creator>
  <cp:lastModifiedBy>Ибрахим Анвар</cp:lastModifiedBy>
  <cp:revision>3</cp:revision>
  <dcterms:created xsi:type="dcterms:W3CDTF">2025-01-22T11:59:23Z</dcterms:created>
  <dcterms:modified xsi:type="dcterms:W3CDTF">2025-09-23T14:41:08Z</dcterms:modified>
</cp:coreProperties>
</file>