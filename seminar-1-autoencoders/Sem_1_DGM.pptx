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4"/>
    <p:restoredTop sz="94703"/>
  </p:normalViewPr>
  <p:slideViewPr>
    <p:cSldViewPr snapToGrid="0">
      <p:cViewPr varScale="1">
        <p:scale>
          <a:sx n="128" d="100"/>
          <a:sy n="128" d="100"/>
        </p:scale>
        <p:origin x="3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1/14/25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1677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1/14/25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550764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1/14/25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03911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1/14/25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59737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1/14/25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6542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1/14/25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6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1/14/25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25740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1/14/25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19345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1/14/25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07499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1/14/25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3792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1/14/25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54474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1/14/25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345261179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73" r:id="rId6"/>
    <p:sldLayoutId id="2147483768" r:id="rId7"/>
    <p:sldLayoutId id="2147483769" r:id="rId8"/>
    <p:sldLayoutId id="2147483770" r:id="rId9"/>
    <p:sldLayoutId id="2147483772" r:id="rId10"/>
    <p:sldLayoutId id="21474837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view of a background splashed with colors">
            <a:extLst>
              <a:ext uri="{FF2B5EF4-FFF2-40B4-BE49-F238E27FC236}">
                <a16:creationId xmlns:a16="http://schemas.microsoft.com/office/drawing/2014/main" id="{26C926DC-EF82-FA2F-A969-BB753F963670}"/>
              </a:ext>
            </a:extLst>
          </p:cNvPr>
          <p:cNvPicPr>
            <a:picLocks noChangeAspect="1"/>
          </p:cNvPicPr>
          <p:nvPr/>
        </p:nvPicPr>
        <p:blipFill>
          <a:blip r:embed="rId2"/>
          <a:srcRect l="8999" r="18638"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4AE8B26-368C-CBF8-BA67-54D174FC55EC}"/>
              </a:ext>
            </a:extLst>
          </p:cNvPr>
          <p:cNvSpPr>
            <a:spLocks noGrp="1"/>
          </p:cNvSpPr>
          <p:nvPr>
            <p:ph type="ctrTitle"/>
          </p:nvPr>
        </p:nvSpPr>
        <p:spPr>
          <a:xfrm>
            <a:off x="477981" y="1122363"/>
            <a:ext cx="4416748" cy="3204134"/>
          </a:xfrm>
        </p:spPr>
        <p:txBody>
          <a:bodyPr anchor="b">
            <a:normAutofit/>
          </a:bodyPr>
          <a:lstStyle/>
          <a:p>
            <a:r>
              <a:rPr lang="en-US" sz="4800" dirty="0"/>
              <a:t>autoencoders</a:t>
            </a:r>
          </a:p>
        </p:txBody>
      </p:sp>
      <p:sp>
        <p:nvSpPr>
          <p:cNvPr id="3" name="Subtitle 2">
            <a:extLst>
              <a:ext uri="{FF2B5EF4-FFF2-40B4-BE49-F238E27FC236}">
                <a16:creationId xmlns:a16="http://schemas.microsoft.com/office/drawing/2014/main" id="{B6F7D435-BFBF-069A-C13E-5D42F3741F32}"/>
              </a:ext>
            </a:extLst>
          </p:cNvPr>
          <p:cNvSpPr>
            <a:spLocks noGrp="1"/>
          </p:cNvSpPr>
          <p:nvPr>
            <p:ph type="subTitle" idx="1"/>
          </p:nvPr>
        </p:nvSpPr>
        <p:spPr>
          <a:xfrm>
            <a:off x="477980" y="4872922"/>
            <a:ext cx="4147808" cy="1208141"/>
          </a:xfrm>
        </p:spPr>
        <p:txBody>
          <a:bodyPr>
            <a:normAutofit/>
          </a:bodyPr>
          <a:lstStyle/>
          <a:p>
            <a:endParaRPr lang="en-US" sz="2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1029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F5F43-682A-F3EB-24FC-5B766D8FD2FE}"/>
              </a:ext>
            </a:extLst>
          </p:cNvPr>
          <p:cNvSpPr>
            <a:spLocks noGrp="1"/>
          </p:cNvSpPr>
          <p:nvPr>
            <p:ph type="title"/>
          </p:nvPr>
        </p:nvSpPr>
        <p:spPr/>
        <p:txBody>
          <a:bodyPr/>
          <a:lstStyle/>
          <a:p>
            <a:r>
              <a:rPr lang="en-US" b="0" i="0" u="none" strike="noStrike" dirty="0">
                <a:solidFill>
                  <a:srgbClr val="000000"/>
                </a:solidFill>
                <a:effectLst/>
                <a:latin typeface="-webkit-standard"/>
              </a:rPr>
              <a:t>autoencoder</a:t>
            </a:r>
            <a:endParaRPr lang="en-US" dirty="0"/>
          </a:p>
        </p:txBody>
      </p:sp>
      <p:sp>
        <p:nvSpPr>
          <p:cNvPr id="3" name="Content Placeholder 2">
            <a:extLst>
              <a:ext uri="{FF2B5EF4-FFF2-40B4-BE49-F238E27FC236}">
                <a16:creationId xmlns:a16="http://schemas.microsoft.com/office/drawing/2014/main" id="{33162E4D-D71C-58F8-70B2-71AB4FDC3783}"/>
              </a:ext>
            </a:extLst>
          </p:cNvPr>
          <p:cNvSpPr>
            <a:spLocks noGrp="1"/>
          </p:cNvSpPr>
          <p:nvPr>
            <p:ph idx="1"/>
          </p:nvPr>
        </p:nvSpPr>
        <p:spPr/>
        <p:txBody>
          <a:bodyPr/>
          <a:lstStyle/>
          <a:p>
            <a:r>
              <a:rPr lang="en-US" b="0" i="0" u="none" strike="noStrike" dirty="0">
                <a:solidFill>
                  <a:srgbClr val="000000"/>
                </a:solidFill>
                <a:effectLst/>
                <a:latin typeface="-webkit-standard"/>
              </a:rPr>
              <a:t>artificial neural network designed to learn an efficient, compressed representation of data. It achieves this by training the network to reconstruct the input data from a compressed, lower-dimensional encoding. Autoencoders are primarily used for </a:t>
            </a:r>
            <a:r>
              <a:rPr lang="en-US" b="1" i="0" u="none" strike="noStrike" dirty="0">
                <a:solidFill>
                  <a:srgbClr val="000000"/>
                </a:solidFill>
                <a:effectLst/>
              </a:rPr>
              <a:t>dimensionality reduction</a:t>
            </a:r>
            <a:r>
              <a:rPr lang="en-US" b="0" i="0" u="none" strike="noStrike" dirty="0">
                <a:solidFill>
                  <a:srgbClr val="000000"/>
                </a:solidFill>
                <a:effectLst/>
                <a:latin typeface="-webkit-standard"/>
              </a:rPr>
              <a:t>, </a:t>
            </a:r>
            <a:r>
              <a:rPr lang="en-US" b="1" i="0" u="none" strike="noStrike" dirty="0">
                <a:solidFill>
                  <a:srgbClr val="000000"/>
                </a:solidFill>
                <a:effectLst/>
              </a:rPr>
              <a:t>denoising</a:t>
            </a:r>
            <a:r>
              <a:rPr lang="en-US" b="0" i="0" u="none" strike="noStrike" dirty="0">
                <a:solidFill>
                  <a:srgbClr val="000000"/>
                </a:solidFill>
                <a:effectLst/>
                <a:latin typeface="-webkit-standard"/>
              </a:rPr>
              <a:t>, or </a:t>
            </a:r>
            <a:r>
              <a:rPr lang="en-US" b="1" i="0" u="none" strike="noStrike" dirty="0">
                <a:solidFill>
                  <a:srgbClr val="000000"/>
                </a:solidFill>
                <a:effectLst/>
              </a:rPr>
              <a:t>unsupervised feature learning</a:t>
            </a:r>
            <a:r>
              <a:rPr lang="en-US" b="0" i="0" u="none" strike="noStrike" dirty="0">
                <a:solidFill>
                  <a:srgbClr val="000000"/>
                </a:solidFill>
                <a:effectLst/>
                <a:latin typeface="-webkit-standard"/>
              </a:rPr>
              <a:t>.</a:t>
            </a:r>
            <a:endParaRPr lang="en-US" dirty="0"/>
          </a:p>
        </p:txBody>
      </p:sp>
    </p:spTree>
    <p:extLst>
      <p:ext uri="{BB962C8B-B14F-4D97-AF65-F5344CB8AC3E}">
        <p14:creationId xmlns:p14="http://schemas.microsoft.com/office/powerpoint/2010/main" val="1289681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63" name="Rectangle 1062">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23F1A9-0B30-20A6-1A9A-754F9865B04D}"/>
              </a:ext>
            </a:extLst>
          </p:cNvPr>
          <p:cNvSpPr>
            <a:spLocks noGrp="1"/>
          </p:cNvSpPr>
          <p:nvPr>
            <p:ph type="title"/>
          </p:nvPr>
        </p:nvSpPr>
        <p:spPr>
          <a:xfrm>
            <a:off x="841246" y="978619"/>
            <a:ext cx="5991244" cy="1106424"/>
          </a:xfrm>
        </p:spPr>
        <p:txBody>
          <a:bodyPr>
            <a:normAutofit/>
          </a:bodyPr>
          <a:lstStyle/>
          <a:p>
            <a:r>
              <a:rPr lang="en-US" sz="3200"/>
              <a:t>Components of autoencoder</a:t>
            </a:r>
          </a:p>
        </p:txBody>
      </p:sp>
      <p:sp>
        <p:nvSpPr>
          <p:cNvPr id="1065" name="Rectangle 1064">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7" name="Rectangle 106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5" name="Content Placeholder 1044">
            <a:extLst>
              <a:ext uri="{FF2B5EF4-FFF2-40B4-BE49-F238E27FC236}">
                <a16:creationId xmlns:a16="http://schemas.microsoft.com/office/drawing/2014/main" id="{A91262DB-98D4-6F1C-4EB7-33FE910B0356}"/>
              </a:ext>
            </a:extLst>
          </p:cNvPr>
          <p:cNvSpPr>
            <a:spLocks noGrp="1"/>
          </p:cNvSpPr>
          <p:nvPr>
            <p:ph idx="1"/>
          </p:nvPr>
        </p:nvSpPr>
        <p:spPr>
          <a:xfrm>
            <a:off x="841248" y="2252870"/>
            <a:ext cx="5993892" cy="3560251"/>
          </a:xfrm>
        </p:spPr>
        <p:txBody>
          <a:bodyPr>
            <a:normAutofit/>
          </a:bodyPr>
          <a:lstStyle/>
          <a:p>
            <a:pPr>
              <a:lnSpc>
                <a:spcPct val="100000"/>
              </a:lnSpc>
            </a:pPr>
            <a:r>
              <a:rPr lang="en-US" sz="1400" b="1" dirty="0"/>
              <a:t>Encoder</a:t>
            </a:r>
            <a:r>
              <a:rPr lang="en-US" sz="1400" dirty="0"/>
              <a:t>:</a:t>
            </a:r>
          </a:p>
          <a:p>
            <a:pPr lvl="1">
              <a:lnSpc>
                <a:spcPct val="100000"/>
              </a:lnSpc>
            </a:pPr>
            <a:r>
              <a:rPr lang="en-US" sz="1100" dirty="0"/>
              <a:t>Maps the input data into a lower-dimensional latent space.</a:t>
            </a:r>
          </a:p>
          <a:p>
            <a:pPr lvl="1">
              <a:lnSpc>
                <a:spcPct val="100000"/>
              </a:lnSpc>
            </a:pPr>
            <a:r>
              <a:rPr lang="en-US" sz="1100" dirty="0"/>
              <a:t>Consists of one or more layers that progressively reduce the input dimensions.</a:t>
            </a:r>
          </a:p>
          <a:p>
            <a:pPr lvl="1">
              <a:lnSpc>
                <a:spcPct val="100000"/>
              </a:lnSpc>
            </a:pPr>
            <a:r>
              <a:rPr lang="en-US" sz="1100" dirty="0"/>
              <a:t>The latent space representation is often called the </a:t>
            </a:r>
            <a:r>
              <a:rPr lang="en-US" sz="1100" b="1" dirty="0"/>
              <a:t>bottleneck</a:t>
            </a:r>
            <a:r>
              <a:rPr lang="en-US" sz="1100" dirty="0"/>
              <a:t> or </a:t>
            </a:r>
            <a:r>
              <a:rPr lang="en-US" sz="1100" b="1" dirty="0"/>
              <a:t>embedding</a:t>
            </a:r>
            <a:r>
              <a:rPr lang="en-US" sz="1100" dirty="0"/>
              <a:t>.</a:t>
            </a:r>
          </a:p>
          <a:p>
            <a:pPr>
              <a:lnSpc>
                <a:spcPct val="100000"/>
              </a:lnSpc>
            </a:pPr>
            <a:r>
              <a:rPr lang="en-US" sz="1600" b="1" dirty="0"/>
              <a:t>Latent Space</a:t>
            </a:r>
            <a:r>
              <a:rPr lang="en-US" sz="1600" dirty="0"/>
              <a:t>:</a:t>
            </a:r>
          </a:p>
          <a:p>
            <a:pPr lvl="1">
              <a:lnSpc>
                <a:spcPct val="100000"/>
              </a:lnSpc>
            </a:pPr>
            <a:r>
              <a:rPr lang="en-US" sz="1100" dirty="0"/>
              <a:t>A compact, encoded representation of the input data.</a:t>
            </a:r>
          </a:p>
          <a:p>
            <a:pPr lvl="1">
              <a:lnSpc>
                <a:spcPct val="100000"/>
              </a:lnSpc>
            </a:pPr>
            <a:r>
              <a:rPr lang="en-US" sz="1100" dirty="0"/>
              <a:t>Ideally, it captures the most important features or patterns of the data.</a:t>
            </a:r>
          </a:p>
          <a:p>
            <a:pPr>
              <a:lnSpc>
                <a:spcPct val="100000"/>
              </a:lnSpc>
            </a:pPr>
            <a:r>
              <a:rPr lang="en-US" sz="1400" b="1" dirty="0"/>
              <a:t>Decoder</a:t>
            </a:r>
            <a:r>
              <a:rPr lang="en-US" sz="1400" dirty="0"/>
              <a:t>:</a:t>
            </a:r>
          </a:p>
          <a:p>
            <a:pPr lvl="1">
              <a:lnSpc>
                <a:spcPct val="100000"/>
              </a:lnSpc>
            </a:pPr>
            <a:r>
              <a:rPr lang="en-US" sz="1100" dirty="0"/>
              <a:t>Reconstructs the original input from the latent space representation.</a:t>
            </a:r>
          </a:p>
          <a:p>
            <a:pPr lvl="1">
              <a:lnSpc>
                <a:spcPct val="100000"/>
              </a:lnSpc>
            </a:pPr>
            <a:r>
              <a:rPr lang="en-US" sz="1100" dirty="0"/>
              <a:t>The output dimension matches the input dimension.</a:t>
            </a:r>
            <a:endParaRPr lang="en-US" sz="2000" dirty="0"/>
          </a:p>
          <a:p>
            <a:pPr algn="l"/>
            <a:r>
              <a:rPr lang="en-US" sz="1200" b="1" i="0" u="none" strike="noStrike" dirty="0">
                <a:solidFill>
                  <a:srgbClr val="000000"/>
                </a:solidFill>
                <a:effectLst/>
              </a:rPr>
              <a:t>Architecture</a:t>
            </a:r>
          </a:p>
          <a:p>
            <a:pPr marL="457200" lvl="1" indent="0">
              <a:buNone/>
            </a:pPr>
            <a:r>
              <a:rPr lang="en-US" sz="1000" b="0" i="0" u="none" strike="noStrike" dirty="0">
                <a:solidFill>
                  <a:srgbClr val="000000"/>
                </a:solidFill>
                <a:effectLst/>
              </a:rPr>
              <a:t>Autoencoders typically have two symmetrical parts:</a:t>
            </a:r>
          </a:p>
          <a:p>
            <a:pPr marL="457200" lvl="1" indent="0">
              <a:buNone/>
            </a:pPr>
            <a:r>
              <a:rPr lang="en-US" sz="1000" b="1" i="0" u="none" strike="noStrike" dirty="0">
                <a:solidFill>
                  <a:srgbClr val="000000"/>
                </a:solidFill>
                <a:effectLst/>
              </a:rPr>
              <a:t>Input → Encoder → Latent Space → Decoder → Output</a:t>
            </a:r>
            <a:endParaRPr lang="en-US" sz="1000" b="0" i="0" u="none" strike="noStrike" dirty="0">
              <a:solidFill>
                <a:srgbClr val="000000"/>
              </a:solidFill>
              <a:effectLst/>
            </a:endParaRPr>
          </a:p>
        </p:txBody>
      </p:sp>
      <p:pic>
        <p:nvPicPr>
          <p:cNvPr id="1026" name="Picture 2" descr="Basics of Autoencoders. Autoencoders (AE) are type of… | by Deepak Birla |  Medium">
            <a:extLst>
              <a:ext uri="{FF2B5EF4-FFF2-40B4-BE49-F238E27FC236}">
                <a16:creationId xmlns:a16="http://schemas.microsoft.com/office/drawing/2014/main" id="{3647A503-DADF-9280-1E80-33A5577E94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4900" y="1714500"/>
            <a:ext cx="4322571" cy="3187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819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3458-CB49-BDE8-42B4-5E2BF74BE80C}"/>
              </a:ext>
            </a:extLst>
          </p:cNvPr>
          <p:cNvSpPr>
            <a:spLocks noGrp="1"/>
          </p:cNvSpPr>
          <p:nvPr>
            <p:ph type="title"/>
          </p:nvPr>
        </p:nvSpPr>
        <p:spPr/>
        <p:txBody>
          <a:bodyPr>
            <a:normAutofit/>
          </a:bodyPr>
          <a:lstStyle/>
          <a:p>
            <a:r>
              <a:rPr lang="en-US" b="1" i="0" u="none" strike="noStrike" dirty="0">
                <a:solidFill>
                  <a:srgbClr val="000000"/>
                </a:solidFill>
                <a:effectLst/>
              </a:rPr>
              <a:t>Variants of Autoencoders</a:t>
            </a:r>
            <a:endParaRPr lang="en-US" dirty="0"/>
          </a:p>
        </p:txBody>
      </p:sp>
      <p:sp>
        <p:nvSpPr>
          <p:cNvPr id="3" name="Content Placeholder 2">
            <a:extLst>
              <a:ext uri="{FF2B5EF4-FFF2-40B4-BE49-F238E27FC236}">
                <a16:creationId xmlns:a16="http://schemas.microsoft.com/office/drawing/2014/main" id="{A5C17F65-1F4D-6D57-BF8A-9B17D4AD946A}"/>
              </a:ext>
            </a:extLst>
          </p:cNvPr>
          <p:cNvSpPr>
            <a:spLocks noGrp="1"/>
          </p:cNvSpPr>
          <p:nvPr>
            <p:ph idx="1"/>
          </p:nvPr>
        </p:nvSpPr>
        <p:spPr/>
        <p:txBody>
          <a:bodyPr>
            <a:normAutofit fontScale="77500" lnSpcReduction="20000"/>
          </a:bodyPr>
          <a:lstStyle/>
          <a:p>
            <a:pPr marL="514350" indent="-514350" algn="l">
              <a:buFont typeface="+mj-lt"/>
              <a:buAutoNum type="arabicPeriod"/>
            </a:pPr>
            <a:r>
              <a:rPr lang="en-US" b="1" i="0" u="none" strike="noStrike" dirty="0">
                <a:solidFill>
                  <a:srgbClr val="000000"/>
                </a:solidFill>
                <a:effectLst/>
              </a:rPr>
              <a:t>Denoising Autoencoder</a:t>
            </a:r>
            <a:r>
              <a:rPr lang="en-US" b="0" i="0" u="none" strike="noStrike" dirty="0">
                <a:solidFill>
                  <a:srgbClr val="000000"/>
                </a:solidFill>
                <a:effectLst/>
              </a:rPr>
              <a:t>: Trained to reconstruct original data from noisy inputs, making them useful for noise reduction.</a:t>
            </a:r>
          </a:p>
          <a:p>
            <a:pPr marL="514350" indent="-514350" algn="l">
              <a:buFont typeface="+mj-lt"/>
              <a:buAutoNum type="arabicPeriod"/>
            </a:pPr>
            <a:r>
              <a:rPr lang="en-US" b="1" i="0" u="none" strike="noStrike" dirty="0">
                <a:solidFill>
                  <a:srgbClr val="000000"/>
                </a:solidFill>
                <a:effectLst/>
              </a:rPr>
              <a:t>Sparse Autoencoder</a:t>
            </a:r>
            <a:r>
              <a:rPr lang="en-US" b="0" i="0" u="none" strike="noStrike" dirty="0">
                <a:solidFill>
                  <a:srgbClr val="000000"/>
                </a:solidFill>
                <a:effectLst/>
              </a:rPr>
              <a:t>: Adds sparsity constraints to the latent space to encourage feature selection.</a:t>
            </a:r>
          </a:p>
          <a:p>
            <a:pPr marL="514350" indent="-514350" algn="l">
              <a:buFont typeface="+mj-lt"/>
              <a:buAutoNum type="arabicPeriod"/>
            </a:pPr>
            <a:r>
              <a:rPr lang="en-US" b="1" i="0" u="none" strike="noStrike" dirty="0">
                <a:solidFill>
                  <a:srgbClr val="000000"/>
                </a:solidFill>
                <a:effectLst/>
              </a:rPr>
              <a:t>Variational Autoencoder (VAE)</a:t>
            </a:r>
            <a:r>
              <a:rPr lang="en-US" b="0" i="0" u="none" strike="noStrike" dirty="0">
                <a:solidFill>
                  <a:srgbClr val="000000"/>
                </a:solidFill>
                <a:effectLst/>
              </a:rPr>
              <a:t>: A probabilistic model that learns a distribution over the latent space for generative tasks.</a:t>
            </a:r>
          </a:p>
          <a:p>
            <a:pPr marL="514350" indent="-514350" algn="l">
              <a:buFont typeface="+mj-lt"/>
              <a:buAutoNum type="arabicPeriod"/>
            </a:pPr>
            <a:r>
              <a:rPr lang="en-US" b="1" i="0" u="none" strike="noStrike" dirty="0">
                <a:solidFill>
                  <a:srgbClr val="000000"/>
                </a:solidFill>
                <a:effectLst/>
              </a:rPr>
              <a:t>Convolutional Autoencoder</a:t>
            </a:r>
            <a:r>
              <a:rPr lang="en-US" b="0" i="0" u="none" strike="noStrike" dirty="0">
                <a:solidFill>
                  <a:srgbClr val="000000"/>
                </a:solidFill>
                <a:effectLst/>
              </a:rPr>
              <a:t>: Uses convolutional layers for image data, preserving spatial features.</a:t>
            </a:r>
          </a:p>
          <a:p>
            <a:pPr marL="514350" indent="-514350" algn="l">
              <a:buFont typeface="+mj-lt"/>
              <a:buAutoNum type="arabicPeriod"/>
            </a:pPr>
            <a:r>
              <a:rPr lang="en-US" b="1" i="0" u="none" strike="noStrike" dirty="0">
                <a:solidFill>
                  <a:srgbClr val="000000"/>
                </a:solidFill>
                <a:effectLst/>
              </a:rPr>
              <a:t>Sequence-to-Sequence Autoencoder</a:t>
            </a:r>
            <a:r>
              <a:rPr lang="en-US" b="0" i="0" u="none" strike="noStrike" dirty="0">
                <a:solidFill>
                  <a:srgbClr val="000000"/>
                </a:solidFill>
                <a:effectLst/>
              </a:rPr>
              <a:t>: Designed for sequential data, such as text or time series.</a:t>
            </a:r>
          </a:p>
          <a:p>
            <a:endParaRPr lang="en-US" dirty="0"/>
          </a:p>
        </p:txBody>
      </p:sp>
    </p:spTree>
    <p:extLst>
      <p:ext uri="{BB962C8B-B14F-4D97-AF65-F5344CB8AC3E}">
        <p14:creationId xmlns:p14="http://schemas.microsoft.com/office/powerpoint/2010/main" val="1161290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68E2F3-ABF4-C952-109B-740AB9D2EE6F}"/>
              </a:ext>
            </a:extLst>
          </p:cNvPr>
          <p:cNvSpPr>
            <a:spLocks noGrp="1"/>
          </p:cNvSpPr>
          <p:nvPr>
            <p:ph type="title"/>
          </p:nvPr>
        </p:nvSpPr>
        <p:spPr>
          <a:xfrm>
            <a:off x="411480" y="991443"/>
            <a:ext cx="4443154" cy="1087819"/>
          </a:xfrm>
        </p:spPr>
        <p:txBody>
          <a:bodyPr anchor="b">
            <a:normAutofit/>
          </a:bodyPr>
          <a:lstStyle/>
          <a:p>
            <a:r>
              <a:rPr lang="en-US" sz="3400" b="1" i="0" u="none" strike="noStrike">
                <a:effectLst/>
              </a:rPr>
              <a:t>Denoising Autoencoder (DAE)</a:t>
            </a:r>
            <a:endParaRPr lang="en-US" sz="3400"/>
          </a:p>
        </p:txBody>
      </p:sp>
      <p:sp>
        <p:nvSpPr>
          <p:cNvPr id="2057" name="Rectangle 2056">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9" name="Rectangle 205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3C4C1A-9020-8138-2092-DD7AC5CD8824}"/>
              </a:ext>
            </a:extLst>
          </p:cNvPr>
          <p:cNvSpPr>
            <a:spLocks noGrp="1"/>
          </p:cNvSpPr>
          <p:nvPr>
            <p:ph idx="1"/>
          </p:nvPr>
        </p:nvSpPr>
        <p:spPr>
          <a:xfrm>
            <a:off x="411480" y="2684095"/>
            <a:ext cx="4443154" cy="3492868"/>
          </a:xfrm>
        </p:spPr>
        <p:txBody>
          <a:bodyPr>
            <a:normAutofit/>
          </a:bodyPr>
          <a:lstStyle/>
          <a:p>
            <a:r>
              <a:rPr lang="en-US" sz="1700" b="0" i="0" u="none" strike="noStrike" dirty="0">
                <a:effectLst/>
                <a:latin typeface="-webkit-standard"/>
              </a:rPr>
              <a:t>type of autoencoder specifically designed to learn how to remove noise from data. Instead of training the autoencoder to reconstruct the exact input, the model is trained to reconstruct the original, clean version of the data from a corrupted or noisy version.</a:t>
            </a:r>
            <a:endParaRPr lang="en-US" sz="1700" dirty="0"/>
          </a:p>
        </p:txBody>
      </p:sp>
      <p:pic>
        <p:nvPicPr>
          <p:cNvPr id="2050" name="Picture 2" descr="Autoencoders Explained. Part 5: Denoising Autoencoders | by om pramod |  Medium">
            <a:extLst>
              <a:ext uri="{FF2B5EF4-FFF2-40B4-BE49-F238E27FC236}">
                <a16:creationId xmlns:a16="http://schemas.microsoft.com/office/drawing/2014/main" id="{4955DEFA-A3FA-7318-9A84-815A5B7B68E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2588219"/>
            <a:ext cx="6440424" cy="1626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281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4BEB-C963-3B54-9C7E-3C729473AAF4}"/>
              </a:ext>
            </a:extLst>
          </p:cNvPr>
          <p:cNvSpPr>
            <a:spLocks noGrp="1"/>
          </p:cNvSpPr>
          <p:nvPr>
            <p:ph type="title"/>
          </p:nvPr>
        </p:nvSpPr>
        <p:spPr/>
        <p:txBody>
          <a:bodyPr>
            <a:normAutofit/>
          </a:bodyPr>
          <a:lstStyle/>
          <a:p>
            <a:r>
              <a:rPr lang="en-US" b="1" i="0" u="none" strike="noStrike" dirty="0">
                <a:solidFill>
                  <a:srgbClr val="000000"/>
                </a:solidFill>
                <a:effectLst/>
              </a:rPr>
              <a:t>How It Works</a:t>
            </a:r>
            <a:endParaRPr lang="en-US" dirty="0"/>
          </a:p>
        </p:txBody>
      </p:sp>
      <p:sp>
        <p:nvSpPr>
          <p:cNvPr id="3" name="Content Placeholder 2">
            <a:extLst>
              <a:ext uri="{FF2B5EF4-FFF2-40B4-BE49-F238E27FC236}">
                <a16:creationId xmlns:a16="http://schemas.microsoft.com/office/drawing/2014/main" id="{56B9E8DC-49A7-5044-1946-2718689E2212}"/>
              </a:ext>
            </a:extLst>
          </p:cNvPr>
          <p:cNvSpPr>
            <a:spLocks noGrp="1"/>
          </p:cNvSpPr>
          <p:nvPr>
            <p:ph sz="half" idx="1"/>
          </p:nvPr>
        </p:nvSpPr>
        <p:spPr>
          <a:xfrm>
            <a:off x="240631" y="2478023"/>
            <a:ext cx="7313107" cy="4071863"/>
          </a:xfrm>
        </p:spPr>
        <p:txBody>
          <a:bodyPr>
            <a:normAutofit fontScale="92500" lnSpcReduction="10000"/>
          </a:bodyPr>
          <a:lstStyle/>
          <a:p>
            <a:pPr algn="l">
              <a:buFont typeface="+mj-lt"/>
              <a:buAutoNum type="arabicPeriod"/>
            </a:pPr>
            <a:r>
              <a:rPr lang="en-US" sz="1400" b="1" i="0" u="none" strike="noStrike" dirty="0">
                <a:solidFill>
                  <a:srgbClr val="000000"/>
                </a:solidFill>
                <a:effectLst/>
              </a:rPr>
              <a:t>Input Corruption (Adding Noise)</a:t>
            </a:r>
            <a:r>
              <a:rPr lang="en-US" sz="14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A noisy version of the input data (</a:t>
            </a:r>
            <a:r>
              <a:rPr lang="en-US" sz="1200" b="0" i="0" u="none" strike="noStrike" dirty="0" err="1">
                <a:solidFill>
                  <a:srgbClr val="000000"/>
                </a:solidFill>
                <a:effectLst/>
              </a:rPr>
              <a:t>X</a:t>
            </a:r>
            <a:r>
              <a:rPr lang="en-US" sz="1200" b="0" i="0" u="none" strike="noStrike" baseline="-25000" dirty="0" err="1">
                <a:solidFill>
                  <a:srgbClr val="000000"/>
                </a:solidFill>
                <a:effectLst/>
              </a:rPr>
              <a:t>noisy</a:t>
            </a:r>
            <a:r>
              <a:rPr lang="en-US" sz="1200" b="0" i="0" u="none" strike="noStrike" dirty="0">
                <a:solidFill>
                  <a:srgbClr val="000000"/>
                </a:solidFill>
                <a:effectLst/>
              </a:rPr>
              <a:t>​) is created by applying random noise to the original data (</a:t>
            </a:r>
            <a:r>
              <a:rPr lang="en-US" sz="1200" b="0" i="0" u="none" strike="noStrike" dirty="0" err="1">
                <a:solidFill>
                  <a:srgbClr val="000000"/>
                </a:solidFill>
                <a:effectLst/>
              </a:rPr>
              <a:t>X</a:t>
            </a:r>
            <a:r>
              <a:rPr lang="en-US" sz="1200" b="0" i="0" u="none" strike="noStrike" baseline="-25000" dirty="0" err="1">
                <a:solidFill>
                  <a:srgbClr val="000000"/>
                </a:solidFill>
                <a:effectLst/>
              </a:rPr>
              <a:t>clean</a:t>
            </a:r>
            <a:r>
              <a:rPr lang="en-US" sz="1200" b="0" i="0" u="none" strike="noStrike" dirty="0">
                <a:solidFill>
                  <a:srgbClr val="000000"/>
                </a:solidFill>
                <a:effectLst/>
              </a:rPr>
              <a:t>​). Common methods include:</a:t>
            </a:r>
          </a:p>
          <a:p>
            <a:pPr marL="1143000" lvl="2" indent="-228600" algn="l">
              <a:buFont typeface="+mj-lt"/>
              <a:buAutoNum type="arabicPeriod"/>
            </a:pPr>
            <a:r>
              <a:rPr lang="en-US" sz="1100" b="1" i="0" u="none" strike="noStrike" dirty="0">
                <a:solidFill>
                  <a:srgbClr val="000000"/>
                </a:solidFill>
                <a:effectLst/>
              </a:rPr>
              <a:t>Gaussian Noise</a:t>
            </a:r>
            <a:r>
              <a:rPr lang="en-US" sz="1100" b="0" i="0" u="none" strike="noStrike" dirty="0">
                <a:solidFill>
                  <a:srgbClr val="000000"/>
                </a:solidFill>
                <a:effectLst/>
              </a:rPr>
              <a:t>: Adding random values drawn from a Gaussian distribution.</a:t>
            </a:r>
          </a:p>
          <a:p>
            <a:pPr marL="1143000" lvl="2" indent="-228600" algn="l">
              <a:buFont typeface="+mj-lt"/>
              <a:buAutoNum type="arabicPeriod"/>
            </a:pPr>
            <a:r>
              <a:rPr lang="en-US" sz="1100" b="1" i="0" u="none" strike="noStrike" dirty="0">
                <a:solidFill>
                  <a:srgbClr val="000000"/>
                </a:solidFill>
                <a:effectLst/>
              </a:rPr>
              <a:t>Salt-and-Pepper Noise</a:t>
            </a:r>
            <a:r>
              <a:rPr lang="en-US" sz="1100" b="0" i="0" u="none" strike="noStrike" dirty="0">
                <a:solidFill>
                  <a:srgbClr val="000000"/>
                </a:solidFill>
                <a:effectLst/>
              </a:rPr>
              <a:t>: Randomly setting pixels in an image to the maximum or minimum value.</a:t>
            </a:r>
          </a:p>
          <a:p>
            <a:pPr marL="1143000" lvl="2" indent="-228600" algn="l">
              <a:buFont typeface="+mj-lt"/>
              <a:buAutoNum type="arabicPeriod"/>
            </a:pPr>
            <a:r>
              <a:rPr lang="en-US" sz="1100" b="1" i="0" u="none" strike="noStrike" dirty="0">
                <a:solidFill>
                  <a:srgbClr val="000000"/>
                </a:solidFill>
                <a:effectLst/>
              </a:rPr>
              <a:t>Dropout Noise</a:t>
            </a:r>
            <a:r>
              <a:rPr lang="en-US" sz="1100" b="0" i="0" u="none" strike="noStrike" dirty="0">
                <a:solidFill>
                  <a:srgbClr val="000000"/>
                </a:solidFill>
                <a:effectLst/>
              </a:rPr>
              <a:t>: Setting some values to zero.</a:t>
            </a:r>
          </a:p>
          <a:p>
            <a:pPr algn="l">
              <a:buFont typeface="+mj-lt"/>
              <a:buAutoNum type="arabicPeriod"/>
            </a:pPr>
            <a:r>
              <a:rPr lang="en-US" sz="1400" b="1" i="0" u="none" strike="noStrike" dirty="0">
                <a:solidFill>
                  <a:srgbClr val="000000"/>
                </a:solidFill>
                <a:effectLst/>
              </a:rPr>
              <a:t>Training Objective</a:t>
            </a:r>
            <a:r>
              <a:rPr lang="en-US" sz="14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The network is trained to minimize the difference between the clean input (</a:t>
            </a:r>
            <a:r>
              <a:rPr lang="en-US" sz="1200" b="0" i="0" u="none" strike="noStrike" dirty="0" err="1">
                <a:solidFill>
                  <a:srgbClr val="000000"/>
                </a:solidFill>
                <a:effectLst/>
              </a:rPr>
              <a:t>X</a:t>
            </a:r>
            <a:r>
              <a:rPr lang="en-US" sz="1200" b="0" i="0" u="none" strike="noStrike" baseline="-25000" dirty="0" err="1">
                <a:solidFill>
                  <a:srgbClr val="000000"/>
                </a:solidFill>
                <a:effectLst/>
              </a:rPr>
              <a:t>clean</a:t>
            </a:r>
            <a:r>
              <a:rPr lang="en-US" sz="1200" b="0" i="0" u="none" strike="noStrike" dirty="0">
                <a:solidFill>
                  <a:srgbClr val="000000"/>
                </a:solidFill>
                <a:effectLst/>
              </a:rPr>
              <a:t>​) and the reconstructed output (</a:t>
            </a:r>
            <a:r>
              <a:rPr lang="en-US" sz="1200" b="0" i="0" u="none" strike="noStrike" dirty="0" err="1">
                <a:solidFill>
                  <a:srgbClr val="000000"/>
                </a:solidFill>
                <a:effectLst/>
              </a:rPr>
              <a:t>X’</a:t>
            </a:r>
            <a:r>
              <a:rPr lang="en-US" sz="1200" b="0" i="0" u="none" strike="noStrike" baseline="-25000" dirty="0" err="1">
                <a:solidFill>
                  <a:srgbClr val="000000"/>
                </a:solidFill>
                <a:effectLst/>
              </a:rPr>
              <a:t>clean</a:t>
            </a:r>
            <a:r>
              <a:rPr lang="en-US" sz="1200" b="0" i="0" u="none" strike="noStrike" dirty="0">
                <a:solidFill>
                  <a:srgbClr val="000000"/>
                </a:solidFill>
                <a:effectLst/>
              </a:rPr>
              <a:t>​), even though it only sees the noisy input during training.</a:t>
            </a:r>
          </a:p>
          <a:p>
            <a:pPr algn="l">
              <a:buFont typeface="+mj-lt"/>
              <a:buAutoNum type="arabicPeriod"/>
            </a:pPr>
            <a:r>
              <a:rPr lang="en-US" sz="1400" b="1" i="0" u="none" strike="noStrike" dirty="0">
                <a:solidFill>
                  <a:srgbClr val="000000"/>
                </a:solidFill>
                <a:effectLst/>
              </a:rPr>
              <a:t>Architecture</a:t>
            </a:r>
            <a:r>
              <a:rPr lang="en-US" sz="14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Similar to a regular autoencoder:</a:t>
            </a:r>
          </a:p>
          <a:p>
            <a:pPr marL="1143000" lvl="2" indent="-228600" algn="l">
              <a:buFont typeface="+mj-lt"/>
              <a:buAutoNum type="arabicPeriod"/>
            </a:pPr>
            <a:r>
              <a:rPr lang="en-US" sz="1100" b="1" i="0" u="none" strike="noStrike" dirty="0">
                <a:solidFill>
                  <a:srgbClr val="000000"/>
                </a:solidFill>
                <a:effectLst/>
              </a:rPr>
              <a:t>Encoder</a:t>
            </a:r>
            <a:r>
              <a:rPr lang="en-US" sz="1100" b="0" i="0" u="none" strike="noStrike" dirty="0">
                <a:solidFill>
                  <a:srgbClr val="000000"/>
                </a:solidFill>
                <a:effectLst/>
              </a:rPr>
              <a:t>: Encodes the noisy input into a latent representation.</a:t>
            </a:r>
          </a:p>
          <a:p>
            <a:pPr marL="1143000" lvl="2" indent="-228600" algn="l">
              <a:buFont typeface="+mj-lt"/>
              <a:buAutoNum type="arabicPeriod"/>
            </a:pPr>
            <a:r>
              <a:rPr lang="en-US" sz="1100" b="1" i="0" u="none" strike="noStrike" dirty="0">
                <a:solidFill>
                  <a:srgbClr val="000000"/>
                </a:solidFill>
                <a:effectLst/>
              </a:rPr>
              <a:t>Decoder</a:t>
            </a:r>
            <a:r>
              <a:rPr lang="en-US" sz="1100" b="0" i="0" u="none" strike="noStrike" dirty="0">
                <a:solidFill>
                  <a:srgbClr val="000000"/>
                </a:solidFill>
                <a:effectLst/>
              </a:rPr>
              <a:t>: Reconstructs the clean data from the latent representation.</a:t>
            </a:r>
          </a:p>
          <a:p>
            <a:pPr algn="l">
              <a:buFont typeface="+mj-lt"/>
              <a:buAutoNum type="arabicPeriod"/>
            </a:pPr>
            <a:r>
              <a:rPr lang="en-US" sz="1400" b="1" i="0" u="none" strike="noStrike" dirty="0">
                <a:solidFill>
                  <a:srgbClr val="000000"/>
                </a:solidFill>
                <a:effectLst/>
              </a:rPr>
              <a:t>Loss Function</a:t>
            </a:r>
            <a:r>
              <a:rPr lang="en-US" sz="1400" b="0" i="0" u="none" strike="noStrike" dirty="0">
                <a:solidFill>
                  <a:srgbClr val="000000"/>
                </a:solidFill>
                <a:effectLst/>
              </a:rPr>
              <a:t>:</a:t>
            </a:r>
          </a:p>
          <a:p>
            <a:pPr marL="742950" lvl="1" indent="-285750" algn="l">
              <a:buFont typeface="+mj-lt"/>
              <a:buAutoNum type="arabicPeriod"/>
            </a:pPr>
            <a:r>
              <a:rPr lang="en-US" sz="1200" b="0" i="0" u="none" strike="noStrike" dirty="0">
                <a:solidFill>
                  <a:srgbClr val="000000"/>
                </a:solidFill>
                <a:effectLst/>
              </a:rPr>
              <a:t>Typically, </a:t>
            </a:r>
            <a:r>
              <a:rPr lang="en-US" sz="1200" b="1" i="0" u="none" strike="noStrike" dirty="0">
                <a:solidFill>
                  <a:srgbClr val="000000"/>
                </a:solidFill>
                <a:effectLst/>
              </a:rPr>
              <a:t>Mean Squared Error (MSE)</a:t>
            </a:r>
            <a:r>
              <a:rPr lang="en-US" sz="1200" b="0" i="0" u="none" strike="noStrike" dirty="0">
                <a:solidFill>
                  <a:srgbClr val="000000"/>
                </a:solidFill>
                <a:effectLst/>
              </a:rPr>
              <a:t> is used to compare the clean data and the reconstructed data:</a:t>
            </a:r>
            <a:br>
              <a:rPr lang="en-US" sz="1200" b="0" i="0" u="none" strike="noStrike" dirty="0">
                <a:solidFill>
                  <a:srgbClr val="000000"/>
                </a:solidFill>
                <a:effectLst/>
              </a:rPr>
            </a:br>
            <a:r>
              <a:rPr lang="en-US" sz="1200" b="0" i="0" u="none" strike="noStrike" dirty="0">
                <a:solidFill>
                  <a:srgbClr val="000000"/>
                </a:solidFill>
                <a:effectLst/>
              </a:rPr>
              <a:t>		Loss=∥</a:t>
            </a:r>
            <a:r>
              <a:rPr lang="en-US" sz="1200" b="0" i="0" u="none" strike="noStrike" dirty="0" err="1">
                <a:solidFill>
                  <a:srgbClr val="000000"/>
                </a:solidFill>
                <a:effectLst/>
              </a:rPr>
              <a:t>X</a:t>
            </a:r>
            <a:r>
              <a:rPr lang="en-US" sz="1200" b="0" i="0" u="none" strike="noStrike" baseline="-25000" dirty="0" err="1">
                <a:solidFill>
                  <a:srgbClr val="000000"/>
                </a:solidFill>
                <a:effectLst/>
              </a:rPr>
              <a:t>clean</a:t>
            </a:r>
            <a:r>
              <a:rPr lang="en-US" sz="1200" b="0" i="0" u="none" strike="noStrike" dirty="0">
                <a:solidFill>
                  <a:srgbClr val="000000"/>
                </a:solidFill>
                <a:effectLst/>
              </a:rPr>
              <a:t>​− </a:t>
            </a:r>
            <a:r>
              <a:rPr lang="en-US" sz="1200" b="0" i="0" u="none" strike="noStrike" dirty="0" err="1">
                <a:solidFill>
                  <a:srgbClr val="000000"/>
                </a:solidFill>
                <a:effectLst/>
              </a:rPr>
              <a:t>X’</a:t>
            </a:r>
            <a:r>
              <a:rPr lang="en-US" sz="1200" b="0" i="0" u="none" strike="noStrike" baseline="-25000" dirty="0" err="1">
                <a:solidFill>
                  <a:srgbClr val="000000"/>
                </a:solidFill>
                <a:effectLst/>
              </a:rPr>
              <a:t>clean</a:t>
            </a:r>
            <a:r>
              <a:rPr lang="en-US" sz="1200" b="0" i="0" u="none" strike="noStrike" baseline="-25000" dirty="0">
                <a:solidFill>
                  <a:srgbClr val="000000"/>
                </a:solidFill>
                <a:effectLst/>
              </a:rPr>
              <a:t> </a:t>
            </a:r>
            <a:r>
              <a:rPr lang="en-US" sz="1200" b="0" i="0" u="none" strike="noStrike" dirty="0">
                <a:solidFill>
                  <a:srgbClr val="000000"/>
                </a:solidFill>
                <a:effectLst/>
              </a:rPr>
              <a:t>∥</a:t>
            </a:r>
            <a:r>
              <a:rPr lang="en-US" sz="1200" b="0" i="0" u="none" strike="noStrike" baseline="30000" dirty="0">
                <a:solidFill>
                  <a:srgbClr val="000000"/>
                </a:solidFill>
                <a:effectLst/>
              </a:rPr>
              <a:t>2</a:t>
            </a:r>
            <a:endParaRPr lang="en-US" sz="1200" dirty="0"/>
          </a:p>
        </p:txBody>
      </p:sp>
      <p:pic>
        <p:nvPicPr>
          <p:cNvPr id="5" name="Picture 2" descr="Autoencoders Explained. Part 5: Denoising Autoencoders | by om pramod |  Medium">
            <a:extLst>
              <a:ext uri="{FF2B5EF4-FFF2-40B4-BE49-F238E27FC236}">
                <a16:creationId xmlns:a16="http://schemas.microsoft.com/office/drawing/2014/main" id="{5E311509-CE4B-4AFD-4522-4561E3E7403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8090452" y="3702243"/>
            <a:ext cx="3193497" cy="1245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818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B0E2A-AA38-A02B-76AB-0AC5F3927538}"/>
              </a:ext>
            </a:extLst>
          </p:cNvPr>
          <p:cNvSpPr>
            <a:spLocks noGrp="1"/>
          </p:cNvSpPr>
          <p:nvPr>
            <p:ph type="title"/>
          </p:nvPr>
        </p:nvSpPr>
        <p:spPr/>
        <p:txBody>
          <a:bodyPr/>
          <a:lstStyle/>
          <a:p>
            <a:r>
              <a:rPr lang="en-US" b="0" i="0" u="none" strike="noStrike" dirty="0">
                <a:solidFill>
                  <a:srgbClr val="000000"/>
                </a:solidFill>
                <a:effectLst/>
                <a:latin typeface="-webkit-standard"/>
              </a:rPr>
              <a:t>Sparse Autoencoder</a:t>
            </a:r>
            <a:endParaRPr lang="en-US" dirty="0"/>
          </a:p>
        </p:txBody>
      </p:sp>
      <p:sp>
        <p:nvSpPr>
          <p:cNvPr id="3" name="Content Placeholder 2">
            <a:extLst>
              <a:ext uri="{FF2B5EF4-FFF2-40B4-BE49-F238E27FC236}">
                <a16:creationId xmlns:a16="http://schemas.microsoft.com/office/drawing/2014/main" id="{CAE1FC08-F60C-0AFB-A7E7-C6FF9DFF4D40}"/>
              </a:ext>
            </a:extLst>
          </p:cNvPr>
          <p:cNvSpPr>
            <a:spLocks noGrp="1"/>
          </p:cNvSpPr>
          <p:nvPr>
            <p:ph sz="half" idx="1"/>
          </p:nvPr>
        </p:nvSpPr>
        <p:spPr>
          <a:xfrm>
            <a:off x="1115568" y="2478024"/>
            <a:ext cx="5603284" cy="3694176"/>
          </a:xfrm>
        </p:spPr>
        <p:txBody>
          <a:bodyPr>
            <a:normAutofit fontScale="92500"/>
          </a:bodyPr>
          <a:lstStyle/>
          <a:p>
            <a:pPr algn="justLow"/>
            <a:r>
              <a:rPr lang="en-US" b="0" i="0" u="none" strike="noStrike" dirty="0">
                <a:solidFill>
                  <a:srgbClr val="000000"/>
                </a:solidFill>
                <a:effectLst/>
                <a:latin typeface="-webkit-standard"/>
              </a:rPr>
              <a:t>type of autoencoder that incorporates a sparsity constraint on the latent space representation. This sparsity encourages the network to learn more distinct and meaningful features from the data, which is particularly useful for tasks like feature selection and representation learning.</a:t>
            </a:r>
            <a:endParaRPr lang="en-US" dirty="0"/>
          </a:p>
          <a:p>
            <a:endParaRPr lang="en-US" dirty="0"/>
          </a:p>
        </p:txBody>
      </p:sp>
      <p:pic>
        <p:nvPicPr>
          <p:cNvPr id="5" name="Picture 2" descr="Diagram of a sparse autoencoder">
            <a:extLst>
              <a:ext uri="{FF2B5EF4-FFF2-40B4-BE49-F238E27FC236}">
                <a16:creationId xmlns:a16="http://schemas.microsoft.com/office/drawing/2014/main" id="{5E112942-38FF-8556-86D6-70BF3E6D591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125494" y="2478024"/>
            <a:ext cx="3950938" cy="31425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CA99A2F-1904-F36C-5BD8-862EF3B29FFE}"/>
              </a:ext>
            </a:extLst>
          </p:cNvPr>
          <p:cNvSpPr txBox="1"/>
          <p:nvPr/>
        </p:nvSpPr>
        <p:spPr>
          <a:xfrm>
            <a:off x="6858000" y="5620544"/>
            <a:ext cx="4671391" cy="523220"/>
          </a:xfrm>
          <a:prstGeom prst="rect">
            <a:avLst/>
          </a:prstGeom>
          <a:noFill/>
        </p:spPr>
        <p:txBody>
          <a:bodyPr wrap="square" rtlCol="0">
            <a:spAutoFit/>
          </a:bodyPr>
          <a:lstStyle/>
          <a:p>
            <a:pPr algn="ctr"/>
            <a:r>
              <a:rPr lang="en-US" sz="1400" b="0" i="0" u="none" strike="noStrike" dirty="0">
                <a:solidFill>
                  <a:srgbClr val="111111"/>
                </a:solidFill>
                <a:effectLst/>
                <a:latin typeface="-apple-system"/>
              </a:rPr>
              <a:t>Diagram of a sparse autoencoder. Note that the intermediate activations are sparse, with only 2 nonzero values.</a:t>
            </a:r>
          </a:p>
        </p:txBody>
      </p:sp>
    </p:spTree>
    <p:extLst>
      <p:ext uri="{BB962C8B-B14F-4D97-AF65-F5344CB8AC3E}">
        <p14:creationId xmlns:p14="http://schemas.microsoft.com/office/powerpoint/2010/main" val="1759186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70A3-2FFD-A032-E600-1F0D58A7C7B1}"/>
              </a:ext>
            </a:extLst>
          </p:cNvPr>
          <p:cNvSpPr>
            <a:spLocks noGrp="1"/>
          </p:cNvSpPr>
          <p:nvPr>
            <p:ph type="title"/>
          </p:nvPr>
        </p:nvSpPr>
        <p:spPr/>
        <p:txBody>
          <a:bodyPr/>
          <a:lstStyle/>
          <a:p>
            <a:r>
              <a:rPr lang="en-US" dirty="0"/>
              <a:t>How does it work:</a:t>
            </a:r>
          </a:p>
        </p:txBody>
      </p:sp>
      <p:sp>
        <p:nvSpPr>
          <p:cNvPr id="3" name="Content Placeholder 2">
            <a:extLst>
              <a:ext uri="{FF2B5EF4-FFF2-40B4-BE49-F238E27FC236}">
                <a16:creationId xmlns:a16="http://schemas.microsoft.com/office/drawing/2014/main" id="{6A188930-DC03-BFDF-E82D-DD56B1400A41}"/>
              </a:ext>
            </a:extLst>
          </p:cNvPr>
          <p:cNvSpPr>
            <a:spLocks noGrp="1"/>
          </p:cNvSpPr>
          <p:nvPr>
            <p:ph idx="1"/>
          </p:nvPr>
        </p:nvSpPr>
        <p:spPr/>
        <p:txBody>
          <a:bodyPr>
            <a:normAutofit fontScale="55000" lnSpcReduction="20000"/>
          </a:bodyPr>
          <a:lstStyle/>
          <a:p>
            <a:r>
              <a:rPr lang="en-US" b="1" dirty="0"/>
              <a:t>Encoder</a:t>
            </a:r>
            <a:r>
              <a:rPr lang="en-US" dirty="0"/>
              <a:t>:</a:t>
            </a:r>
          </a:p>
          <a:p>
            <a:pPr>
              <a:buFont typeface="Arial" panose="020B0604020202020204" pitchFamily="34" charset="0"/>
              <a:buChar char="•"/>
            </a:pPr>
            <a:r>
              <a:rPr lang="en-US" dirty="0"/>
              <a:t>Encodes the input into a latent representation.</a:t>
            </a:r>
          </a:p>
          <a:p>
            <a:pPr>
              <a:buFont typeface="Arial" panose="020B0604020202020204" pitchFamily="34" charset="0"/>
              <a:buChar char="•"/>
            </a:pPr>
            <a:r>
              <a:rPr lang="en-US" dirty="0"/>
              <a:t>Adds sparsity by penalizing activations, encouraging only a few neurons to be active.</a:t>
            </a:r>
          </a:p>
          <a:p>
            <a:r>
              <a:rPr lang="en-US" b="1" dirty="0"/>
              <a:t>Sparsity Constraint</a:t>
            </a:r>
            <a:r>
              <a:rPr lang="en-US" dirty="0"/>
              <a:t>:</a:t>
            </a:r>
          </a:p>
          <a:p>
            <a:pPr>
              <a:buFont typeface="Arial" panose="020B0604020202020204" pitchFamily="34" charset="0"/>
              <a:buChar char="•"/>
            </a:pPr>
            <a:r>
              <a:rPr lang="en-US" dirty="0"/>
              <a:t>A penalty term is added to the loss function, ensuring that the average activation of each neuron in the latent space is close to a small value (e.g., 0.05).</a:t>
            </a:r>
          </a:p>
          <a:p>
            <a:pPr>
              <a:buFont typeface="Arial" panose="020B0604020202020204" pitchFamily="34" charset="0"/>
              <a:buChar char="•"/>
            </a:pPr>
            <a:r>
              <a:rPr lang="en-US" dirty="0"/>
              <a:t>Common methods:</a:t>
            </a:r>
          </a:p>
          <a:p>
            <a:pPr marL="742950" lvl="1" indent="-285750">
              <a:buFont typeface="Arial" panose="020B0604020202020204" pitchFamily="34" charset="0"/>
              <a:buChar char="•"/>
            </a:pPr>
            <a:r>
              <a:rPr lang="en-US" b="1" dirty="0"/>
              <a:t>KL Divergence</a:t>
            </a:r>
            <a:r>
              <a:rPr lang="en-US" dirty="0"/>
              <a:t>: Measures the divergence between the average activation and a target sparsity value.</a:t>
            </a:r>
          </a:p>
          <a:p>
            <a:pPr marL="742950" lvl="1" indent="-285750">
              <a:buFont typeface="Arial" panose="020B0604020202020204" pitchFamily="34" charset="0"/>
              <a:buChar char="•"/>
            </a:pPr>
            <a:r>
              <a:rPr lang="en-US" b="1" dirty="0"/>
              <a:t>L1 Regularization</a:t>
            </a:r>
            <a:r>
              <a:rPr lang="en-US" dirty="0"/>
              <a:t>: Penalizes large values in the latent space.</a:t>
            </a:r>
          </a:p>
          <a:p>
            <a:r>
              <a:rPr lang="en-US" b="1" dirty="0"/>
              <a:t>Decoder</a:t>
            </a:r>
            <a:r>
              <a:rPr lang="en-US" dirty="0"/>
              <a:t>:</a:t>
            </a:r>
          </a:p>
          <a:p>
            <a:pPr>
              <a:buFont typeface="Arial" panose="020B0604020202020204" pitchFamily="34" charset="0"/>
              <a:buChar char="•"/>
            </a:pPr>
            <a:r>
              <a:rPr lang="en-US" dirty="0"/>
              <a:t>Reconstructs the input from the sparse latent representation.</a:t>
            </a:r>
          </a:p>
        </p:txBody>
      </p:sp>
    </p:spTree>
    <p:extLst>
      <p:ext uri="{BB962C8B-B14F-4D97-AF65-F5344CB8AC3E}">
        <p14:creationId xmlns:p14="http://schemas.microsoft.com/office/powerpoint/2010/main" val="182547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30726-9453-C1E1-3E92-3D090F5DFA99}"/>
              </a:ext>
            </a:extLst>
          </p:cNvPr>
          <p:cNvSpPr>
            <a:spLocks noGrp="1"/>
          </p:cNvSpPr>
          <p:nvPr>
            <p:ph type="title"/>
          </p:nvPr>
        </p:nvSpPr>
        <p:spPr/>
        <p:txBody>
          <a:bodyPr>
            <a:normAutofit fontScale="90000"/>
          </a:bodyPr>
          <a:lstStyle/>
          <a:p>
            <a:r>
              <a:rPr lang="en-US" b="1" i="0" u="none" strike="noStrike" dirty="0">
                <a:solidFill>
                  <a:srgbClr val="000000"/>
                </a:solidFill>
                <a:effectLst/>
              </a:rPr>
              <a:t>When to Use Each?</a:t>
            </a:r>
            <a:br>
              <a:rPr lang="en-US" b="1" i="0" u="none" strike="noStrike" dirty="0">
                <a:solidFill>
                  <a:srgbClr val="000000"/>
                </a:solidFill>
                <a:effectLst/>
              </a:rPr>
            </a:br>
            <a:endParaRPr lang="en-US" dirty="0"/>
          </a:p>
        </p:txBody>
      </p:sp>
      <p:sp>
        <p:nvSpPr>
          <p:cNvPr id="3" name="Content Placeholder 2">
            <a:extLst>
              <a:ext uri="{FF2B5EF4-FFF2-40B4-BE49-F238E27FC236}">
                <a16:creationId xmlns:a16="http://schemas.microsoft.com/office/drawing/2014/main" id="{7EE0DBB1-4C46-4C4D-F021-E1F146590087}"/>
              </a:ext>
            </a:extLst>
          </p:cNvPr>
          <p:cNvSpPr>
            <a:spLocks noGrp="1"/>
          </p:cNvSpPr>
          <p:nvPr>
            <p:ph idx="1"/>
          </p:nvPr>
        </p:nvSpPr>
        <p:spPr/>
        <p:txBody>
          <a:bodyPr>
            <a:normAutofit fontScale="77500" lnSpcReduction="20000"/>
          </a:bodyPr>
          <a:lstStyle/>
          <a:p>
            <a:pPr algn="l"/>
            <a:r>
              <a:rPr lang="en-US" b="1" i="0" u="none" strike="noStrike" dirty="0">
                <a:solidFill>
                  <a:srgbClr val="000000"/>
                </a:solidFill>
                <a:effectLst/>
              </a:rPr>
              <a:t>Use KL Divergence When:</a:t>
            </a:r>
          </a:p>
          <a:p>
            <a:pPr lvl="1"/>
            <a:r>
              <a:rPr lang="en-US" b="0" i="0" u="none" strike="noStrike" dirty="0">
                <a:solidFill>
                  <a:srgbClr val="000000"/>
                </a:solidFill>
                <a:effectLst/>
              </a:rPr>
              <a:t>You have a clear </a:t>
            </a:r>
            <a:r>
              <a:rPr lang="en-US" b="1" i="0" u="none" strike="noStrike" dirty="0">
                <a:solidFill>
                  <a:srgbClr val="000000"/>
                </a:solidFill>
                <a:effectLst/>
              </a:rPr>
              <a:t>target sparsity</a:t>
            </a:r>
            <a:r>
              <a:rPr lang="en-US" b="0" i="0" u="none" strike="noStrike" dirty="0">
                <a:solidFill>
                  <a:srgbClr val="000000"/>
                </a:solidFill>
                <a:effectLst/>
              </a:rPr>
              <a:t> in mind (e.g., a specific percentage of active neurons).</a:t>
            </a:r>
          </a:p>
          <a:p>
            <a:pPr lvl="1"/>
            <a:r>
              <a:rPr lang="en-US" b="0" i="0" u="none" strike="noStrike" dirty="0">
                <a:solidFill>
                  <a:srgbClr val="000000"/>
                </a:solidFill>
                <a:effectLst/>
              </a:rPr>
              <a:t>You want to enforce sparsity at a probabilistic level rather than directly on activation values.</a:t>
            </a:r>
          </a:p>
          <a:p>
            <a:pPr lvl="1"/>
            <a:r>
              <a:rPr lang="en-US" b="0" i="0" u="none" strike="noStrike" dirty="0">
                <a:solidFill>
                  <a:srgbClr val="000000"/>
                </a:solidFill>
                <a:effectLst/>
              </a:rPr>
              <a:t>You're working with activations normalized to a probability space (e.g., outputs of a sigmoid layer).</a:t>
            </a:r>
          </a:p>
          <a:p>
            <a:pPr algn="l"/>
            <a:r>
              <a:rPr lang="en-US" b="1" i="0" u="none" strike="noStrike" dirty="0">
                <a:solidFill>
                  <a:srgbClr val="000000"/>
                </a:solidFill>
                <a:effectLst/>
              </a:rPr>
              <a:t>Use L1 Regularization When:</a:t>
            </a:r>
          </a:p>
          <a:p>
            <a:pPr lvl="1"/>
            <a:r>
              <a:rPr lang="en-US" b="0" i="0" u="none" strike="noStrike" dirty="0">
                <a:solidFill>
                  <a:srgbClr val="000000"/>
                </a:solidFill>
                <a:effectLst/>
              </a:rPr>
              <a:t>You want to enforce general sparsity without requiring a target sparsity.</a:t>
            </a:r>
          </a:p>
          <a:p>
            <a:pPr lvl="1"/>
            <a:r>
              <a:rPr lang="en-US" b="0" i="0" u="none" strike="noStrike" dirty="0">
                <a:solidFill>
                  <a:srgbClr val="000000"/>
                </a:solidFill>
                <a:effectLst/>
              </a:rPr>
              <a:t>The problem benefits from simplicity and computational efficiency.</a:t>
            </a:r>
          </a:p>
          <a:p>
            <a:pPr lvl="1"/>
            <a:r>
              <a:rPr lang="en-US" b="0" i="0" u="none" strike="noStrike" dirty="0">
                <a:solidFill>
                  <a:srgbClr val="000000"/>
                </a:solidFill>
                <a:effectLst/>
              </a:rPr>
              <a:t>You don’t need a probabilistic interpretation of the activations.</a:t>
            </a:r>
          </a:p>
          <a:p>
            <a:endParaRPr lang="en-US" dirty="0"/>
          </a:p>
        </p:txBody>
      </p:sp>
    </p:spTree>
    <p:extLst>
      <p:ext uri="{BB962C8B-B14F-4D97-AF65-F5344CB8AC3E}">
        <p14:creationId xmlns:p14="http://schemas.microsoft.com/office/powerpoint/2010/main" val="4046648927"/>
      </p:ext>
    </p:extLst>
  </p:cSld>
  <p:clrMapOvr>
    <a:masterClrMapping/>
  </p:clrMapOvr>
</p:sld>
</file>

<file path=ppt/theme/theme1.xml><?xml version="1.0" encoding="utf-8"?>
<a:theme xmlns:a="http://schemas.openxmlformats.org/drawingml/2006/main" name="AccentBoxVTI">
  <a:themeElements>
    <a:clrScheme name="AnalogousFromRegularSeedRightStep">
      <a:dk1>
        <a:srgbClr val="000000"/>
      </a:dk1>
      <a:lt1>
        <a:srgbClr val="FFFFFF"/>
      </a:lt1>
      <a:dk2>
        <a:srgbClr val="223A3D"/>
      </a:dk2>
      <a:lt2>
        <a:srgbClr val="E2E8E8"/>
      </a:lt2>
      <a:accent1>
        <a:srgbClr val="E73429"/>
      </a:accent1>
      <a:accent2>
        <a:srgbClr val="D57117"/>
      </a:accent2>
      <a:accent3>
        <a:srgbClr val="B4A420"/>
      </a:accent3>
      <a:accent4>
        <a:srgbClr val="80B113"/>
      </a:accent4>
      <a:accent5>
        <a:srgbClr val="4AB821"/>
      </a:accent5>
      <a:accent6>
        <a:srgbClr val="14BC2C"/>
      </a:accent6>
      <a:hlink>
        <a:srgbClr val="329096"/>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emplate>Wood Type</Template>
  <TotalTime>276</TotalTime>
  <Words>742</Words>
  <Application>Microsoft Macintosh PowerPoint</Application>
  <PresentationFormat>Widescreen</PresentationFormat>
  <Paragraphs>62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-apple-system</vt:lpstr>
      <vt:lpstr>-webkit-standard</vt:lpstr>
      <vt:lpstr>Arial</vt:lpstr>
      <vt:lpstr>Avenir Next LT Pro</vt:lpstr>
      <vt:lpstr>Calibri</vt:lpstr>
      <vt:lpstr>AccentBoxVTI</vt:lpstr>
      <vt:lpstr>autoencoders</vt:lpstr>
      <vt:lpstr>autoencoder</vt:lpstr>
      <vt:lpstr>Components of autoencoder</vt:lpstr>
      <vt:lpstr>Variants of Autoencoders</vt:lpstr>
      <vt:lpstr>Denoising Autoencoder (DAE)</vt:lpstr>
      <vt:lpstr>How It Works</vt:lpstr>
      <vt:lpstr>Sparse Autoencoder</vt:lpstr>
      <vt:lpstr>How does it work:</vt:lpstr>
      <vt:lpstr>When to Use Each?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Ибрахим Анвар</dc:creator>
  <cp:lastModifiedBy>Ибрахим Анвар</cp:lastModifiedBy>
  <cp:revision>2</cp:revision>
  <dcterms:created xsi:type="dcterms:W3CDTF">2025-01-14T08:13:19Z</dcterms:created>
  <dcterms:modified xsi:type="dcterms:W3CDTF">2025-01-14T12:50:07Z</dcterms:modified>
</cp:coreProperties>
</file>